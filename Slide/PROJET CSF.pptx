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7" r:id="rId5"/>
    <p:sldId id="266" r:id="rId6"/>
    <p:sldId id="274" r:id="rId7"/>
    <p:sldId id="272" r:id="rId8"/>
    <p:sldId id="264" r:id="rId9"/>
    <p:sldId id="273" r:id="rId10"/>
    <p:sldId id="268" r:id="rId11"/>
    <p:sldId id="270" r:id="rId12"/>
    <p:sldId id="275" r:id="rId13"/>
    <p:sldId id="276" r:id="rId14"/>
    <p:sldId id="277" r:id="rId15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D03447BB-5D67-496B-8E87-E561075AD55C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>
        <p:scale>
          <a:sx n="66" d="100"/>
          <a:sy n="66" d="100"/>
        </p:scale>
        <p:origin x="1330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291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F166DAF-1FD7-49A0-916A-AC65B1661C02}" type="datetime1">
              <a:rPr lang="fr-FR" smtClean="0"/>
              <a:t>29/04/2026</a:t>
            </a:fld>
            <a:endParaRPr lang="fr-FR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ECB32D8-F2D2-4D01-80A9-88F3B128AE75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08472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 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43EBA-850C-42A3-A69E-C2E98F19DE12}" type="datetime1">
              <a:rPr lang="fr-FR" smtClean="0"/>
              <a:pPr/>
              <a:t>29/04/2026</a:t>
            </a:fld>
            <a:endParaRPr lang="fr-FR" dirty="0"/>
          </a:p>
        </p:txBody>
      </p:sp>
      <p:sp>
        <p:nvSpPr>
          <p:cNvPr id="4" name="Espace réservé d’image de diapositive 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not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5C1D8F7-2BDD-4C56-98AF-2E212EF349F3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10761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59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4996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CFE1E-F2B2-E8E5-AE43-3C8D0D71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F5B36C-995C-7424-B19C-C7046E77F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65535B2-BC44-CE17-6214-E1826F8AC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F39744-DF6E-E8AF-8CDE-884A5076C5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83982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A62D-7088-535D-B81D-B45D36277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0FA6D58-25AA-A087-A04B-91C07B243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B531D1-B2E6-B545-01A8-5FB59748E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64DACAB-B5EB-E71F-387C-2098F6F241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239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2801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13DD9-B359-02D3-8618-63E73BE0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2D75BC-3BC8-7785-5551-53E4986AC3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4E7FABD-F252-BD35-AE94-FA15E2AA4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03F6299-06DC-969B-AE56-5C82297CFF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2696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3931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0782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2203-A98E-7D16-FF4A-D731F1865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0C68A19-97AA-2FB7-5D2C-4A9589669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9A0CF5A-CFD9-B0AA-F4D3-F37648901A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081510-896D-CE55-0A96-C766531580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70997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9E970-A00F-34A7-84A9-0C1042E0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C470ED9-24E0-1964-E479-972C5C1AC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610E4DC-DCA8-5A59-72E5-832F97A6D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FDFB49-416F-073F-7EB6-561876BE95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5313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C931-8AC8-D142-224D-26E645F5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FC6D40B-2E04-5875-EBEA-F01630A446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608FBE6-7EB3-00F8-A55E-7837AD40C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BBB7FA-34ED-8C45-77CB-D271CBEA34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05C1D8F7-2BDD-4C56-98AF-2E212EF349F3}" type="slidenum">
              <a:rPr lang="fr-FR" smtClean="0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6042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638800" y="304801"/>
            <a:ext cx="5486400" cy="2514599"/>
          </a:xfrm>
        </p:spPr>
        <p:txBody>
          <a:bodyPr rtlCol="0" anchor="b">
            <a:normAutofit/>
          </a:bodyPr>
          <a:lstStyle>
            <a:lvl1pPr algn="l">
              <a:defRPr sz="54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638800" y="2895600"/>
            <a:ext cx="5486400" cy="914400"/>
          </a:xfrm>
        </p:spPr>
        <p:txBody>
          <a:bodyPr rtlCol="0"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bg2">
                    <a:lumMod val="25000"/>
                    <a:lumOff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2053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DEA163-D3B5-4581-9849-77D58C91657A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7300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060450" y="1676401"/>
            <a:ext cx="10058400" cy="1752600"/>
          </a:xfrm>
        </p:spPr>
        <p:txBody>
          <a:bodyPr rtlCol="0" anchor="b">
            <a:normAutofit/>
          </a:bodyPr>
          <a:lstStyle>
            <a:lvl1pPr>
              <a:defRPr sz="48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060450" y="3581400"/>
            <a:ext cx="10058400" cy="1143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4DC317B-F889-4156-9F41-585E9802B909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566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066800" y="1676401"/>
            <a:ext cx="4846320" cy="4343400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78880" y="1676401"/>
            <a:ext cx="4846320" cy="4343400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6" name="Espace réservé du pied de page 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5" name="Espace réservé de la date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9DA7A1-59FF-42C1-B1B3-89C10FE1A32E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7" name="Espace réservé du numéro de diapositive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90256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66800" y="1681163"/>
            <a:ext cx="4846320" cy="823912"/>
          </a:xfrm>
        </p:spPr>
        <p:txBody>
          <a:bodyPr rtlCol="0"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66800" y="2505075"/>
            <a:ext cx="4846320" cy="3514725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278880" y="1681163"/>
            <a:ext cx="4846320" cy="823912"/>
          </a:xfrm>
        </p:spPr>
        <p:txBody>
          <a:bodyPr rtlCol="0" anchor="ctr"/>
          <a:lstStyle>
            <a:lvl1pPr marL="0" indent="0">
              <a:buNone/>
              <a:defRPr sz="2400" b="0">
                <a:solidFill>
                  <a:schemeClr val="bg2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278880" y="2505075"/>
            <a:ext cx="4846320" cy="3514725"/>
          </a:xfrm>
        </p:spPr>
        <p:txBody>
          <a:bodyPr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8" name="Espace réservé du pied de page 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7" name="Espace réservé de la date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30A04F-E001-41EA-BD6A-6B97D81F7AF9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9" name="Espace réservé du numéro de diapositive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92426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4" name="Espace réservé du pied de page 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3" name="Espace réservé de la date 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05C288-8C2C-4322-A2EE-047060414380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5" name="Espace réservé du numéro de diapositive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810930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 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E0DD5E-4909-46F3-81FF-2C4D7CA0DD8B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4" name="Espace réservé du numéro de diapositive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5120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7"/>
          <p:cNvSpPr/>
          <p:nvPr/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contenu 2"/>
          <p:cNvSpPr>
            <a:spLocks noGrp="1"/>
          </p:cNvSpPr>
          <p:nvPr>
            <p:ph idx="1"/>
          </p:nvPr>
        </p:nvSpPr>
        <p:spPr>
          <a:xfrm>
            <a:off x="609600" y="838200"/>
            <a:ext cx="6172200" cy="5181601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924802" y="3124200"/>
            <a:ext cx="3657600" cy="2895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97959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24800" y="838200"/>
            <a:ext cx="3657600" cy="2133600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’image 2" descr="Espace réservé vide pour ajouter une image. Cliquez sur l’espace réservé et sélectionnez l’image à ajouter"/>
          <p:cNvSpPr>
            <a:spLocks noGrp="1"/>
          </p:cNvSpPr>
          <p:nvPr>
            <p:ph type="pic" idx="1"/>
          </p:nvPr>
        </p:nvSpPr>
        <p:spPr>
          <a:xfrm>
            <a:off x="0" y="0"/>
            <a:ext cx="7239000" cy="6858000"/>
          </a:xfrm>
          <a:solidFill>
            <a:schemeClr val="bg1"/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924801" y="3124200"/>
            <a:ext cx="3657600" cy="28956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Cliquez pour modifier les styles du texte du masque</a:t>
            </a:r>
          </a:p>
        </p:txBody>
      </p:sp>
      <p:sp>
        <p:nvSpPr>
          <p:cNvPr id="8" name="Rectangle 7"/>
          <p:cNvSpPr/>
          <p:nvPr/>
        </p:nvSpPr>
        <p:spPr>
          <a:xfrm>
            <a:off x="7239000" y="0"/>
            <a:ext cx="228600" cy="685800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94411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E44BC8-8C30-47A0-9C3D-6F595C44DBF1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74512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 1"/>
          <p:cNvSpPr>
            <a:spLocks noGrp="1"/>
          </p:cNvSpPr>
          <p:nvPr>
            <p:ph type="title" orient="vert"/>
          </p:nvPr>
        </p:nvSpPr>
        <p:spPr>
          <a:xfrm>
            <a:off x="9296400" y="365125"/>
            <a:ext cx="1828800" cy="5654675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066800" y="365125"/>
            <a:ext cx="8001000" cy="5654675"/>
          </a:xfrm>
        </p:spPr>
        <p:txBody>
          <a:bodyPr vert="eaVert" rtlCol="0"/>
          <a:lstStyle/>
          <a:p>
            <a:pPr lvl="0" rtl="0"/>
            <a:r>
              <a:rPr lang="fr-FR" noProof="0"/>
              <a:t>Cliquez pour modifier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  <a:endParaRPr lang="fr-FR" noProof="0" dirty="0"/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EDCC16-ABC4-454E-A7F5-BA436A235111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9043838-BFF5-400C-B067-3DF4A5F395D6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47379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 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100584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r-FR" noProof="0" dirty="0"/>
              <a:t>Modifiez le style du titre</a:t>
            </a:r>
          </a:p>
        </p:txBody>
      </p:sp>
      <p:sp>
        <p:nvSpPr>
          <p:cNvPr id="3" name="Espace réservé du texte 2"/>
          <p:cNvSpPr>
            <a:spLocks noGrp="1"/>
          </p:cNvSpPr>
          <p:nvPr>
            <p:ph type="body" idx="1"/>
          </p:nvPr>
        </p:nvSpPr>
        <p:spPr>
          <a:xfrm>
            <a:off x="1066800" y="1676400"/>
            <a:ext cx="100584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5" name="Espace réservé du pied de page 4"/>
          <p:cNvSpPr>
            <a:spLocks noGrp="1"/>
          </p:cNvSpPr>
          <p:nvPr>
            <p:ph type="ftr" sz="quarter" idx="3"/>
          </p:nvPr>
        </p:nvSpPr>
        <p:spPr>
          <a:xfrm>
            <a:off x="1070918" y="6392562"/>
            <a:ext cx="7082481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 noProof="0" dirty="0"/>
              <a:t>Ajouter un pied de page</a:t>
            </a:r>
          </a:p>
        </p:txBody>
      </p:sp>
      <p:sp>
        <p:nvSpPr>
          <p:cNvPr id="4" name="Espace réservé de la date 3"/>
          <p:cNvSpPr>
            <a:spLocks noGrp="1"/>
          </p:cNvSpPr>
          <p:nvPr>
            <p:ph type="dt" sz="half" idx="2"/>
          </p:nvPr>
        </p:nvSpPr>
        <p:spPr>
          <a:xfrm>
            <a:off x="8534400" y="6392562"/>
            <a:ext cx="12954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0AC7BACE-A426-4839-AC27-C7B080690890}" type="datetime1">
              <a:rPr lang="fr-FR" noProof="0" smtClean="0"/>
              <a:t>29/04/2026</a:t>
            </a:fld>
            <a:endParaRPr lang="fr-FR" noProof="0" dirty="0"/>
          </a:p>
        </p:txBody>
      </p:sp>
      <p:sp>
        <p:nvSpPr>
          <p:cNvPr id="6" name="Espace réservé du numéro de diapositive 5"/>
          <p:cNvSpPr>
            <a:spLocks noGrp="1"/>
          </p:cNvSpPr>
          <p:nvPr>
            <p:ph type="sldNum" sz="quarter" idx="4"/>
          </p:nvPr>
        </p:nvSpPr>
        <p:spPr>
          <a:xfrm>
            <a:off x="10058400" y="6392562"/>
            <a:ext cx="1066800" cy="180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9043838-BFF5-400C-B067-3DF4A5F395D6}" type="slidenum">
              <a:rPr lang="fr-FR" noProof="0" smtClean="0"/>
              <a:pPr rtl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569209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447928" y="1268760"/>
            <a:ext cx="4320480" cy="1362471"/>
          </a:xfrm>
        </p:spPr>
        <p:txBody>
          <a:bodyPr rtlCol="0">
            <a:normAutofit/>
          </a:bodyPr>
          <a:lstStyle/>
          <a:p>
            <a:pPr rtl="0"/>
            <a:r>
              <a:rPr lang="fr-FR" sz="6600" dirty="0">
                <a:latin typeface="Congenial Black" panose="020F0502020204030204" pitchFamily="2" charset="0"/>
              </a:rPr>
              <a:t>868HOOP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638800" y="2631231"/>
            <a:ext cx="6145832" cy="914400"/>
          </a:xfrm>
        </p:spPr>
        <p:txBody>
          <a:bodyPr rtlCol="0">
            <a:normAutofit/>
          </a:bodyPr>
          <a:lstStyle/>
          <a:p>
            <a:pPr rtl="0"/>
            <a:r>
              <a:rPr lang="fr-FR" sz="3600" dirty="0"/>
              <a:t>Basket connecté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8BC481D-77DD-ECDF-A97E-E439EFB1BFEC}"/>
              </a:ext>
            </a:extLst>
          </p:cNvPr>
          <p:cNvSpPr txBox="1"/>
          <p:nvPr/>
        </p:nvSpPr>
        <p:spPr>
          <a:xfrm>
            <a:off x="5638800" y="3325315"/>
            <a:ext cx="5857800" cy="3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fr-FR" sz="2000" b="0" dirty="0">
                <a:solidFill>
                  <a:schemeClr val="bg2">
                    <a:lumMod val="25000"/>
                    <a:lumOff val="75000"/>
                  </a:schemeClr>
                </a:solidFill>
                <a:effectLst/>
              </a:rPr>
              <a:t>Projet CSF L1 par Saïra Ghulam et Souhil Benzaza</a:t>
            </a:r>
          </a:p>
        </p:txBody>
      </p:sp>
    </p:spTree>
    <p:extLst>
      <p:ext uri="{BB962C8B-B14F-4D97-AF65-F5344CB8AC3E}">
        <p14:creationId xmlns:p14="http://schemas.microsoft.com/office/powerpoint/2010/main" val="57609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127448" y="332656"/>
            <a:ext cx="4093096" cy="1143000"/>
          </a:xfrm>
        </p:spPr>
        <p:txBody>
          <a:bodyPr rtlCol="0"/>
          <a:lstStyle/>
          <a:p>
            <a:r>
              <a:rPr lang="fr-FR" dirty="0"/>
              <a:t>SOMMAIRE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83432" y="1700808"/>
            <a:ext cx="9433048" cy="4464496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Motivation</a:t>
            </a:r>
          </a:p>
          <a:p>
            <a:pPr rtl="0"/>
            <a:r>
              <a:rPr lang="fr-FR" dirty="0"/>
              <a:t>Objectifs, problématique</a:t>
            </a:r>
          </a:p>
          <a:p>
            <a:pPr rtl="0"/>
            <a:r>
              <a:rPr lang="fr-FR" dirty="0"/>
              <a:t>Fonctions et schéma</a:t>
            </a:r>
          </a:p>
          <a:p>
            <a:pPr rtl="0"/>
            <a:r>
              <a:rPr lang="fr-FR" dirty="0"/>
              <a:t>Matériels et utilisation</a:t>
            </a:r>
          </a:p>
          <a:p>
            <a:pPr rtl="0"/>
            <a:r>
              <a:rPr lang="fr-FR" dirty="0"/>
              <a:t>Planning</a:t>
            </a:r>
          </a:p>
          <a:p>
            <a:pPr rtl="0"/>
            <a:r>
              <a:rPr lang="fr-FR" dirty="0" err="1"/>
              <a:t>Moodboard</a:t>
            </a:r>
            <a:endParaRPr lang="fr-FR" dirty="0"/>
          </a:p>
          <a:p>
            <a:pPr rtl="0"/>
            <a:r>
              <a:rPr lang="fr-FR" dirty="0"/>
              <a:t>Perspectives</a:t>
            </a:r>
          </a:p>
          <a:p>
            <a:pPr rtl="0"/>
            <a:r>
              <a:rPr lang="fr-FR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290508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13157-FEF1-0AE0-1757-58A2D78C5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8B9D02C4-F022-5877-5D6A-40F589A86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4093096" cy="1143000"/>
          </a:xfrm>
        </p:spPr>
        <p:txBody>
          <a:bodyPr rtlCol="0"/>
          <a:lstStyle/>
          <a:p>
            <a:r>
              <a:rPr lang="fr-FR" dirty="0"/>
              <a:t>Pourquoi ce projet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AA44EB-16B9-794D-F662-DD3349E4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988840"/>
            <a:ext cx="7920880" cy="3096344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Passion pour le basket et pour la technologie</a:t>
            </a:r>
          </a:p>
          <a:p>
            <a:pPr rtl="0"/>
            <a:r>
              <a:rPr lang="fr-FR" dirty="0"/>
              <a:t>Fonctionnel, projet utilisable en vrai</a:t>
            </a:r>
          </a:p>
          <a:p>
            <a:pPr rtl="0"/>
            <a:r>
              <a:rPr lang="fr-FR" dirty="0"/>
              <a:t>Ludique, un projet qui nous ressemble</a:t>
            </a:r>
          </a:p>
          <a:p>
            <a:pPr rtl="0"/>
            <a:r>
              <a:rPr lang="fr-FR" dirty="0"/>
              <a:t>Se challenger, apprendre à résoudre des problèmes</a:t>
            </a:r>
          </a:p>
          <a:p>
            <a:pPr rtl="0"/>
            <a:r>
              <a:rPr lang="fr-FR" dirty="0"/>
              <a:t>Projet modulable et évolutif</a:t>
            </a:r>
          </a:p>
        </p:txBody>
      </p:sp>
    </p:spTree>
    <p:extLst>
      <p:ext uri="{BB962C8B-B14F-4D97-AF65-F5344CB8AC3E}">
        <p14:creationId xmlns:p14="http://schemas.microsoft.com/office/powerpoint/2010/main" val="973071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DCE3-AC14-0619-2AF8-D6CA0D9B8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6370BBB7-C342-88BB-5D42-C4A66EA7C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64510"/>
            <a:ext cx="4093096" cy="1143000"/>
          </a:xfrm>
        </p:spPr>
        <p:txBody>
          <a:bodyPr rtlCol="0"/>
          <a:lstStyle/>
          <a:p>
            <a:r>
              <a:rPr lang="fr-FR" dirty="0"/>
              <a:t>Nos objectifs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6FDBF0B-BCE0-F81D-6160-081D30FDF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880828"/>
            <a:ext cx="7920880" cy="3096344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Détecter un tir réussi</a:t>
            </a:r>
          </a:p>
          <a:p>
            <a:pPr rtl="0"/>
            <a:r>
              <a:rPr lang="fr-FR" dirty="0"/>
              <a:t>Transmettre le score sans fils</a:t>
            </a:r>
          </a:p>
          <a:p>
            <a:pPr rtl="0"/>
            <a:r>
              <a:rPr lang="fr-FR" dirty="0"/>
              <a:t>Afficher le score en direct</a:t>
            </a:r>
          </a:p>
          <a:p>
            <a:pPr rtl="0"/>
            <a:r>
              <a:rPr lang="fr-FR" dirty="0"/>
              <a:t>Fabriquer une maquette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6DC7E4E-E089-BBCA-60E7-15D254D92FE9}"/>
              </a:ext>
            </a:extLst>
          </p:cNvPr>
          <p:cNvSpPr txBox="1"/>
          <p:nvPr/>
        </p:nvSpPr>
        <p:spPr>
          <a:xfrm>
            <a:off x="5447928" y="3429000"/>
            <a:ext cx="597666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fr-FR" sz="3600" dirty="0">
                <a:latin typeface="+mj-lt"/>
              </a:rPr>
              <a:t>Problématique : </a:t>
            </a:r>
          </a:p>
          <a:p>
            <a:pPr rtl="0"/>
            <a:endParaRPr lang="fr-FR" sz="3600" dirty="0">
              <a:latin typeface="+mj-lt"/>
            </a:endParaRPr>
          </a:p>
          <a:p>
            <a:pPr rtl="0"/>
            <a:r>
              <a:rPr lang="fr-FR" sz="2800" dirty="0"/>
              <a:t>Comment compter automatiquement des paniers et transmettre le score sans aucun câble ? </a:t>
            </a:r>
          </a:p>
        </p:txBody>
      </p:sp>
    </p:spTree>
    <p:extLst>
      <p:ext uri="{BB962C8B-B14F-4D97-AF65-F5344CB8AC3E}">
        <p14:creationId xmlns:p14="http://schemas.microsoft.com/office/powerpoint/2010/main" val="2100765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92144" y="834008"/>
            <a:ext cx="3657600" cy="838944"/>
          </a:xfrm>
        </p:spPr>
        <p:txBody>
          <a:bodyPr rtlCol="0" anchor="b">
            <a:normAutofit/>
          </a:bodyPr>
          <a:lstStyle/>
          <a:p>
            <a:pPr rtl="0"/>
            <a:r>
              <a:rPr lang="fr-FR" dirty="0"/>
              <a:t>Schéma du projet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F0D9225-CE9D-0D8D-6727-C12511A3B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87" y="0"/>
            <a:ext cx="5915025" cy="6858000"/>
          </a:xfrm>
          <a:prstGeom prst="rect">
            <a:avLst/>
          </a:prstGeom>
          <a:noFill/>
        </p:spPr>
      </p:pic>
      <p:sp>
        <p:nvSpPr>
          <p:cNvPr id="4" name="Espace réservé du texte 3"/>
          <p:cNvSpPr>
            <a:spLocks noGrp="1"/>
          </p:cNvSpPr>
          <p:nvPr>
            <p:ph type="body" sz="half" idx="2"/>
          </p:nvPr>
        </p:nvSpPr>
        <p:spPr>
          <a:xfrm>
            <a:off x="7248128" y="2708920"/>
            <a:ext cx="4824536" cy="2895600"/>
          </a:xfrm>
        </p:spPr>
        <p:txBody>
          <a:bodyPr rtlCol="0">
            <a:normAutofit/>
          </a:bodyPr>
          <a:lstStyle/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Détecter passage du ballon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Traiter la mesure et valider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Transmettre le score sans fil</a:t>
            </a:r>
          </a:p>
          <a:p>
            <a:pPr marL="342900" indent="-342900" rtl="0">
              <a:buFont typeface="Arial" panose="020B0604020202020204" pitchFamily="34" charset="0"/>
              <a:buChar char="•"/>
            </a:pPr>
            <a:r>
              <a:rPr lang="fr-FR" dirty="0"/>
              <a:t>Afficher le score en temps réel</a:t>
            </a:r>
          </a:p>
        </p:txBody>
      </p:sp>
    </p:spTree>
    <p:extLst>
      <p:ext uri="{BB962C8B-B14F-4D97-AF65-F5344CB8AC3E}">
        <p14:creationId xmlns:p14="http://schemas.microsoft.com/office/powerpoint/2010/main" val="1949577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EBB3F-17A6-C587-DE46-C0B708303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4CBD8D37-E058-F96C-6AF2-07B584B39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6624736" cy="1143000"/>
          </a:xfrm>
        </p:spPr>
        <p:txBody>
          <a:bodyPr rtlCol="0"/>
          <a:lstStyle/>
          <a:p>
            <a:r>
              <a:rPr lang="fr-FR" dirty="0"/>
              <a:t>Matériel et utilisation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83505E-F867-EC8D-CA77-BFFC43D86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988840"/>
            <a:ext cx="7920880" cy="3096344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Carte UCA LoRa (émetteur, récepteur)</a:t>
            </a:r>
          </a:p>
          <a:p>
            <a:pPr rtl="0"/>
            <a:r>
              <a:rPr lang="fr-FR" dirty="0"/>
              <a:t>Capteur ultrason (mesure distance)</a:t>
            </a:r>
          </a:p>
          <a:p>
            <a:pPr rtl="0"/>
            <a:r>
              <a:rPr lang="fr-FR" dirty="0"/>
              <a:t>Ecran OLED (affichage du score)</a:t>
            </a:r>
          </a:p>
          <a:p>
            <a:pPr rtl="0"/>
            <a:r>
              <a:rPr lang="fr-FR" dirty="0"/>
              <a:t>Câbles (connexion entre composant)</a:t>
            </a:r>
          </a:p>
          <a:p>
            <a:pPr rtl="0"/>
            <a:r>
              <a:rPr lang="fr-FR" dirty="0"/>
              <a:t>Maquette : bois, panier…</a:t>
            </a:r>
          </a:p>
        </p:txBody>
      </p:sp>
    </p:spTree>
    <p:extLst>
      <p:ext uri="{BB962C8B-B14F-4D97-AF65-F5344CB8AC3E}">
        <p14:creationId xmlns:p14="http://schemas.microsoft.com/office/powerpoint/2010/main" val="15351057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>
          <a:xfrm>
            <a:off x="191344" y="-243408"/>
            <a:ext cx="10058400" cy="1135172"/>
          </a:xfrm>
        </p:spPr>
        <p:txBody>
          <a:bodyPr rtlCol="0"/>
          <a:lstStyle/>
          <a:p>
            <a:pPr rtl="0"/>
            <a:r>
              <a:rPr lang="fr-FR" dirty="0"/>
              <a:t>Planning :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A083C341-88E4-DB3D-98EE-BD55278FA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835438"/>
              </p:ext>
            </p:extLst>
          </p:nvPr>
        </p:nvGraphicFramePr>
        <p:xfrm>
          <a:off x="839416" y="891764"/>
          <a:ext cx="10058399" cy="5777625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2446637">
                  <a:extLst>
                    <a:ext uri="{9D8B030D-6E8A-4147-A177-3AD203B41FA5}">
                      <a16:colId xmlns:a16="http://schemas.microsoft.com/office/drawing/2014/main" val="2937648073"/>
                    </a:ext>
                  </a:extLst>
                </a:gridCol>
                <a:gridCol w="1427205">
                  <a:extLst>
                    <a:ext uri="{9D8B030D-6E8A-4147-A177-3AD203B41FA5}">
                      <a16:colId xmlns:a16="http://schemas.microsoft.com/office/drawing/2014/main" val="4037955604"/>
                    </a:ext>
                  </a:extLst>
                </a:gridCol>
                <a:gridCol w="1155357">
                  <a:extLst>
                    <a:ext uri="{9D8B030D-6E8A-4147-A177-3AD203B41FA5}">
                      <a16:colId xmlns:a16="http://schemas.microsoft.com/office/drawing/2014/main" val="122569329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89110784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410853444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564325309"/>
                    </a:ext>
                  </a:extLst>
                </a:gridCol>
              </a:tblGrid>
              <a:tr h="332368">
                <a:tc>
                  <a:txBody>
                    <a:bodyPr/>
                    <a:lstStyle/>
                    <a:p>
                      <a:r>
                        <a:rPr lang="fr-FR" dirty="0"/>
                        <a:t>TACHES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296428"/>
                  </a:ext>
                </a:extLst>
              </a:tr>
              <a:tr h="581644">
                <a:tc>
                  <a:txBody>
                    <a:bodyPr/>
                    <a:lstStyle/>
                    <a:p>
                      <a:r>
                        <a:rPr lang="fr-FR" dirty="0"/>
                        <a:t>Prise en main carte UCA + capteur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000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3314588"/>
                  </a:ext>
                </a:extLst>
              </a:tr>
              <a:tr h="474105">
                <a:tc>
                  <a:txBody>
                    <a:bodyPr/>
                    <a:lstStyle/>
                    <a:p>
                      <a:r>
                        <a:rPr lang="fr-FR" dirty="0"/>
                        <a:t>Code détection ultrason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446477"/>
                  </a:ext>
                </a:extLst>
              </a:tr>
              <a:tr h="581644">
                <a:tc>
                  <a:txBody>
                    <a:bodyPr/>
                    <a:lstStyle/>
                    <a:p>
                      <a:r>
                        <a:rPr lang="fr-FR" dirty="0"/>
                        <a:t>Conception maquette 3D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833206"/>
                  </a:ext>
                </a:extLst>
              </a:tr>
              <a:tr h="581644">
                <a:tc>
                  <a:txBody>
                    <a:bodyPr/>
                    <a:lstStyle/>
                    <a:p>
                      <a:r>
                        <a:rPr lang="fr-FR" dirty="0"/>
                        <a:t>Découpe laser + assemblage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587715"/>
                  </a:ext>
                </a:extLst>
              </a:tr>
              <a:tr h="474105">
                <a:tc>
                  <a:txBody>
                    <a:bodyPr/>
                    <a:lstStyle/>
                    <a:p>
                      <a:r>
                        <a:rPr lang="fr-FR" dirty="0"/>
                        <a:t>Configuration Lora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545317"/>
                  </a:ext>
                </a:extLst>
              </a:tr>
              <a:tr h="581644">
                <a:tc>
                  <a:txBody>
                    <a:bodyPr/>
                    <a:lstStyle/>
                    <a:p>
                      <a:r>
                        <a:rPr lang="fr-FR" dirty="0"/>
                        <a:t>Code émetteur + récepteur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217159"/>
                  </a:ext>
                </a:extLst>
              </a:tr>
              <a:tr h="332368">
                <a:tc>
                  <a:txBody>
                    <a:bodyPr/>
                    <a:lstStyle/>
                    <a:p>
                      <a:r>
                        <a:rPr lang="fr-FR" dirty="0"/>
                        <a:t>Code </a:t>
                      </a:r>
                      <a:r>
                        <a:rPr lang="fr-FR" dirty="0" err="1"/>
                        <a:t>Oled</a:t>
                      </a:r>
                      <a:r>
                        <a:rPr lang="fr-FR" dirty="0"/>
                        <a:t> + buzzer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716308"/>
                  </a:ext>
                </a:extLst>
              </a:tr>
              <a:tr h="581644">
                <a:tc>
                  <a:txBody>
                    <a:bodyPr/>
                    <a:lstStyle/>
                    <a:p>
                      <a:r>
                        <a:rPr lang="fr-FR" dirty="0"/>
                        <a:t>Intégration </a:t>
                      </a:r>
                      <a:r>
                        <a:rPr lang="fr-FR" dirty="0" err="1"/>
                        <a:t>elec</a:t>
                      </a:r>
                      <a:r>
                        <a:rPr lang="fr-FR" dirty="0"/>
                        <a:t> + mécanique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1814377"/>
                  </a:ext>
                </a:extLst>
              </a:tr>
              <a:tr h="33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dirty="0"/>
                        <a:t>Test + calibration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7921542"/>
                  </a:ext>
                </a:extLst>
              </a:tr>
              <a:tr h="332368">
                <a:tc>
                  <a:txBody>
                    <a:bodyPr/>
                    <a:lstStyle/>
                    <a:p>
                      <a:r>
                        <a:rPr lang="fr-FR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669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111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dirty="0" err="1"/>
              <a:t>Moodboard</a:t>
            </a:r>
            <a:r>
              <a:rPr lang="fr-FR" dirty="0"/>
              <a:t> :</a:t>
            </a:r>
          </a:p>
        </p:txBody>
      </p:sp>
      <p:pic>
        <p:nvPicPr>
          <p:cNvPr id="3" name="Image 2" descr="Images de Brickwall – Téléchargement gratuit sur Freepik">
            <a:extLst>
              <a:ext uri="{FF2B5EF4-FFF2-40B4-BE49-F238E27FC236}">
                <a16:creationId xmlns:a16="http://schemas.microsoft.com/office/drawing/2014/main" id="{974FB508-AB88-B40A-6649-26918B55A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5" y="3590208"/>
            <a:ext cx="3714612" cy="2474735"/>
          </a:xfrm>
          <a:prstGeom prst="rect">
            <a:avLst/>
          </a:prstGeom>
        </p:spPr>
      </p:pic>
      <p:pic>
        <p:nvPicPr>
          <p:cNvPr id="4" name="Image 3" descr="Abécédaire en Graffiti pour décorer une Chambre - LB Studio">
            <a:extLst>
              <a:ext uri="{FF2B5EF4-FFF2-40B4-BE49-F238E27FC236}">
                <a16:creationId xmlns:a16="http://schemas.microsoft.com/office/drawing/2014/main" id="{76E8AF2D-4645-E3A7-CC81-DCF6FA54C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7768" y="783515"/>
            <a:ext cx="3312368" cy="2484276"/>
          </a:xfrm>
          <a:prstGeom prst="rect">
            <a:avLst/>
          </a:prstGeom>
        </p:spPr>
      </p:pic>
      <p:pic>
        <p:nvPicPr>
          <p:cNvPr id="5" name="Image 4" descr="Vintage Boombox Photos From The 1980s Glory Days">
            <a:extLst>
              <a:ext uri="{FF2B5EF4-FFF2-40B4-BE49-F238E27FC236}">
                <a16:creationId xmlns:a16="http://schemas.microsoft.com/office/drawing/2014/main" id="{B23784C3-A379-FF08-F1C8-DF5E8EE64A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8" y="3590209"/>
            <a:ext cx="4602088" cy="2446777"/>
          </a:xfrm>
          <a:prstGeom prst="rect">
            <a:avLst/>
          </a:prstGeom>
        </p:spPr>
      </p:pic>
      <p:pic>
        <p:nvPicPr>
          <p:cNvPr id="6" name="Image 5" descr="NBA Basketball Ball Basket Cartoon Sport De Haute Qualite Pare-Chocs  Automobiles Autocollant 12 x 12 cm : Amazon.fr: Auto et Moto">
            <a:extLst>
              <a:ext uri="{FF2B5EF4-FFF2-40B4-BE49-F238E27FC236}">
                <a16:creationId xmlns:a16="http://schemas.microsoft.com/office/drawing/2014/main" id="{DAA7DC32-673F-9FFD-28EE-B79E4E50F6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0278" y="777051"/>
            <a:ext cx="2401652" cy="23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51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04D5C-4B44-0BDD-FD10-0D624617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758B2ABD-DB57-7288-C20E-1F3280A8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6624736" cy="1143000"/>
          </a:xfrm>
        </p:spPr>
        <p:txBody>
          <a:bodyPr rtlCol="0"/>
          <a:lstStyle/>
          <a:p>
            <a:r>
              <a:rPr lang="fr-FR" dirty="0"/>
              <a:t>Perspective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4FCF67-1BCE-C860-EBEB-AA9250F48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988840"/>
            <a:ext cx="10441160" cy="3096344"/>
          </a:xfrm>
        </p:spPr>
        <p:txBody>
          <a:bodyPr rtlCol="0">
            <a:normAutofit lnSpcReduction="10000"/>
          </a:bodyPr>
          <a:lstStyle/>
          <a:p>
            <a:r>
              <a:rPr lang="fr-FR" dirty="0"/>
              <a:t>Buzzer pour panier marqué</a:t>
            </a:r>
          </a:p>
          <a:p>
            <a:r>
              <a:rPr lang="fr-FR" dirty="0"/>
              <a:t>Option </a:t>
            </a:r>
            <a:r>
              <a:rPr lang="fr-FR" dirty="0" err="1"/>
              <a:t>timer</a:t>
            </a:r>
            <a:endParaRPr lang="fr-FR" dirty="0"/>
          </a:p>
          <a:p>
            <a:r>
              <a:rPr lang="fr-FR" dirty="0"/>
              <a:t>Mode 2  joueurs, chacun son panier</a:t>
            </a:r>
          </a:p>
          <a:p>
            <a:r>
              <a:rPr lang="fr-FR" dirty="0"/>
              <a:t>Détection 2/3 points pour distances de lancé</a:t>
            </a:r>
          </a:p>
          <a:p>
            <a:r>
              <a:rPr lang="fr-FR" dirty="0"/>
              <a:t>+ Application pour relevé les joueurs et scores</a:t>
            </a:r>
          </a:p>
          <a:p>
            <a:r>
              <a:rPr lang="fr-FR" dirty="0"/>
              <a:t>+ Statistiques : tirs réussis/tentés</a:t>
            </a:r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6097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3E23F-E0EB-341B-C963-01F9969D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CC45177F-5C05-04A5-CCAF-50446C090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448" y="332656"/>
            <a:ext cx="6624736" cy="1143000"/>
          </a:xfrm>
        </p:spPr>
        <p:txBody>
          <a:bodyPr rtlCol="0"/>
          <a:lstStyle/>
          <a:p>
            <a:r>
              <a:rPr lang="fr-FR" dirty="0"/>
              <a:t>Conclusions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02A923-0A47-F6C4-FAC6-217393EF0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432" y="1988840"/>
            <a:ext cx="10441160" cy="3096344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868HOOP,  maquette de basket connecté</a:t>
            </a:r>
          </a:p>
          <a:p>
            <a:pPr rtl="0"/>
            <a:r>
              <a:rPr lang="fr-FR" dirty="0"/>
              <a:t>Projet complet : </a:t>
            </a:r>
          </a:p>
          <a:p>
            <a:pPr rtl="0"/>
            <a:r>
              <a:rPr lang="fr-FR" dirty="0"/>
              <a:t>Compétence technique, organisation, travail en équipe…</a:t>
            </a:r>
          </a:p>
          <a:p>
            <a:pPr rtl="0"/>
            <a:r>
              <a:rPr lang="fr-FR" dirty="0"/>
              <a:t>Relevé des défis</a:t>
            </a:r>
          </a:p>
          <a:p>
            <a:pPr rtl="0"/>
            <a:r>
              <a:rPr lang="fr-FR" dirty="0"/>
              <a:t>Apprendre en s’amusant</a:t>
            </a:r>
          </a:p>
          <a:p>
            <a:pPr rtl="0"/>
            <a:endParaRPr lang="fr-FR" dirty="0"/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95350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3162-070E-A71D-E62A-847608197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>
            <a:extLst>
              <a:ext uri="{FF2B5EF4-FFF2-40B4-BE49-F238E27FC236}">
                <a16:creationId xmlns:a16="http://schemas.microsoft.com/office/drawing/2014/main" id="{0E035473-39BC-BA63-0C66-C4EE19D41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65" y="2942946"/>
            <a:ext cx="2236070" cy="972108"/>
          </a:xfrm>
        </p:spPr>
        <p:txBody>
          <a:bodyPr rtlCol="0">
            <a:normAutofit/>
          </a:bodyPr>
          <a:lstStyle/>
          <a:p>
            <a:r>
              <a:rPr lang="fr-FR" sz="5400" dirty="0"/>
              <a:t>Merci !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6C0944-9D5B-68B2-3CCC-32819A599657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83432" y="5085183"/>
            <a:ext cx="3384376" cy="45719"/>
          </a:xfrm>
        </p:spPr>
        <p:txBody>
          <a:bodyPr rtlCol="0">
            <a:normAutofit fontScale="25000" lnSpcReduction="20000"/>
          </a:bodyPr>
          <a:lstStyle/>
          <a:p>
            <a:pPr rtl="0"/>
            <a:endParaRPr lang="fr-FR" dirty="0"/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09816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sket-ball 16:9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5870363_TF04001173.potx" id="{DAE4509D-DC3E-44C6-98EB-5B8A0872E5D2}" vid="{62E58525-1829-484C-8B8D-3749D8B7F88A}"/>
    </a:ext>
  </a:extLst>
</a:theme>
</file>

<file path=ppt/theme/theme2.xml><?xml version="1.0" encoding="utf-8"?>
<a:theme xmlns:a="http://schemas.openxmlformats.org/drawingml/2006/main" name="Thème Offic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Basketball">
      <a:dk1>
        <a:sysClr val="windowText" lastClr="000000"/>
      </a:dk1>
      <a:lt1>
        <a:sysClr val="window" lastClr="FFFFFF"/>
      </a:lt1>
      <a:dk2>
        <a:srgbClr val="51270B"/>
      </a:dk2>
      <a:lt2>
        <a:srgbClr val="CAAF92"/>
      </a:lt2>
      <a:accent1>
        <a:srgbClr val="8C061E"/>
      </a:accent1>
      <a:accent2>
        <a:srgbClr val="CD0205"/>
      </a:accent2>
      <a:accent3>
        <a:srgbClr val="D05002"/>
      </a:accent3>
      <a:accent4>
        <a:srgbClr val="052A5E"/>
      </a:accent4>
      <a:accent5>
        <a:srgbClr val="1A559C"/>
      </a:accent5>
      <a:accent6>
        <a:srgbClr val="156645"/>
      </a:accent6>
      <a:hlink>
        <a:srgbClr val="D05002"/>
      </a:hlink>
      <a:folHlink>
        <a:srgbClr val="808080"/>
      </a:folHlink>
    </a:clrScheme>
    <a:fontScheme name="Impact - Franklin Gothic Medium">
      <a:majorFont>
        <a:latin typeface="Impact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30E8E9-C5F6-40D8-943C-DA5B4196A6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DDEFBA-1D7E-4587-9763-EBF5A6740E9A}">
  <ds:schemaRefs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40262f94-9f35-4ac3-9a90-690165a166b7"/>
    <ds:schemaRef ds:uri="a4f35948-e619-41b3-aa29-22878b09cfd2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8E42578-9CD4-4AFF-AA5E-F33052F6B6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Présentation pour le basket-ball (grand écran)</Template>
  <TotalTime>2195</TotalTime>
  <Words>297</Words>
  <Application>Microsoft Office PowerPoint</Application>
  <PresentationFormat>Grand écran</PresentationFormat>
  <Paragraphs>97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Congenial Black</vt:lpstr>
      <vt:lpstr>Franklin Gothic Medium</vt:lpstr>
      <vt:lpstr>Impact</vt:lpstr>
      <vt:lpstr>Basket-ball 16:9</vt:lpstr>
      <vt:lpstr>868HOOP</vt:lpstr>
      <vt:lpstr>SOMMAIRE :</vt:lpstr>
      <vt:lpstr>Pourquoi ce projet ?</vt:lpstr>
      <vt:lpstr>Nos objectifs ?</vt:lpstr>
      <vt:lpstr>Schéma du projet</vt:lpstr>
      <vt:lpstr>Matériel et utilisation</vt:lpstr>
      <vt:lpstr>Planning :</vt:lpstr>
      <vt:lpstr>Moodboard :</vt:lpstr>
      <vt:lpstr>Perspective :</vt:lpstr>
      <vt:lpstr>Conclusions :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Saïra Ghulam</dc:creator>
  <cp:lastModifiedBy>Saïra Ghulam</cp:lastModifiedBy>
  <cp:revision>1</cp:revision>
  <dcterms:created xsi:type="dcterms:W3CDTF">2026-04-28T22:47:56Z</dcterms:created>
  <dcterms:modified xsi:type="dcterms:W3CDTF">2026-04-30T11:23:45Z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